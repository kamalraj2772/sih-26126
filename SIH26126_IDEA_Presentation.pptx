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" y="1874519"/>
            <a:ext cx="5989320" cy="484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5575" indent="-155575">
              <a:spcBef>
                <a:spcPts val="1100"/>
              </a:spcBef>
              <a:buFont typeface="Arial"/>
              <a:buChar char="•"/>
            </a:pPr>
            <a:r>
              <a:rPr sz="1450" b="1" i="0">
                <a:solidFill>
                  <a:srgbClr val="1A1A1A"/>
                </a:solidFill>
                <a:latin typeface="Arial"/>
              </a:rPr>
              <a:t>Problem Statement ID – </a:t>
            </a:r>
            <a:r>
              <a:rPr sz="1450" b="0">
                <a:solidFill>
                  <a:srgbClr val="1A1A1A"/>
                </a:solidFill>
                <a:latin typeface="Arial"/>
              </a:rPr>
              <a:t>SIH26126</a:t>
            </a:r>
          </a:p>
          <a:p>
            <a:pPr marL="155575" indent="-155575">
              <a:spcBef>
                <a:spcPts val="1100"/>
              </a:spcBef>
              <a:buFont typeface="Arial"/>
              <a:buChar char="•"/>
            </a:pPr>
            <a:r>
              <a:rPr sz="1450" b="1" i="0">
                <a:solidFill>
                  <a:srgbClr val="1A1A1A"/>
                </a:solidFill>
                <a:latin typeface="Arial"/>
              </a:rPr>
              <a:t>Problem Statement Title – </a:t>
            </a:r>
            <a:r>
              <a:rPr sz="1450" b="0">
                <a:solidFill>
                  <a:srgbClr val="1A1A1A"/>
                </a:solidFill>
                <a:latin typeface="Arial"/>
              </a:rPr>
              <a:t>Vision Based Autonomous Navigation for Unmanned Ground Vehicle for Outdoor environment</a:t>
            </a:r>
          </a:p>
          <a:p>
            <a:pPr marL="155575" indent="-155575">
              <a:spcBef>
                <a:spcPts val="1100"/>
              </a:spcBef>
              <a:buFont typeface="Arial"/>
              <a:buChar char="•"/>
            </a:pPr>
            <a:r>
              <a:rPr sz="1450" b="1" i="0">
                <a:solidFill>
                  <a:srgbClr val="1A1A1A"/>
                </a:solidFill>
                <a:latin typeface="Arial"/>
              </a:rPr>
              <a:t>Theme – </a:t>
            </a:r>
            <a:r>
              <a:rPr sz="1450" b="0">
                <a:solidFill>
                  <a:srgbClr val="1A1A1A"/>
                </a:solidFill>
                <a:latin typeface="Arial"/>
              </a:rPr>
              <a:t>Smart Automation</a:t>
            </a:r>
          </a:p>
          <a:p>
            <a:pPr marL="155575" indent="-155575">
              <a:spcBef>
                <a:spcPts val="1100"/>
              </a:spcBef>
              <a:buFont typeface="Arial"/>
              <a:buChar char="•"/>
            </a:pPr>
            <a:r>
              <a:rPr sz="1450" b="1" i="0">
                <a:solidFill>
                  <a:srgbClr val="1A1A1A"/>
                </a:solidFill>
                <a:latin typeface="Arial"/>
              </a:rPr>
              <a:t>PS Category – </a:t>
            </a:r>
            <a:r>
              <a:rPr sz="1450" b="0">
                <a:solidFill>
                  <a:srgbClr val="1A1A1A"/>
                </a:solidFill>
                <a:latin typeface="Arial"/>
              </a:rPr>
              <a:t>Software</a:t>
            </a:r>
          </a:p>
          <a:p>
            <a:pPr marL="155575" indent="-155575">
              <a:spcBef>
                <a:spcPts val="1100"/>
              </a:spcBef>
              <a:buFont typeface="Arial"/>
              <a:buChar char="•"/>
            </a:pPr>
            <a:r>
              <a:rPr sz="1450" b="1" i="0">
                <a:solidFill>
                  <a:srgbClr val="1A1A1A"/>
                </a:solidFill>
                <a:latin typeface="Arial"/>
              </a:rPr>
              <a:t>Team ID – </a:t>
            </a:r>
            <a:r>
              <a:rPr sz="1450" b="0">
                <a:solidFill>
                  <a:srgbClr val="1A1A1A"/>
                </a:solidFill>
                <a:latin typeface="Arial"/>
              </a:rPr>
              <a:t>14</a:t>
            </a:r>
          </a:p>
          <a:p>
            <a:pPr marL="155575" indent="-155575">
              <a:spcBef>
                <a:spcPts val="1100"/>
              </a:spcBef>
              <a:buFont typeface="Arial"/>
              <a:buChar char="•"/>
            </a:pPr>
            <a:r>
              <a:rPr sz="1450" b="1" i="0">
                <a:solidFill>
                  <a:srgbClr val="1A1A1A"/>
                </a:solidFill>
                <a:latin typeface="Arial"/>
              </a:rPr>
              <a:t>Team Name – </a:t>
            </a:r>
            <a:r>
              <a:rPr sz="1450" b="0">
                <a:solidFill>
                  <a:srgbClr val="1A1A1A"/>
                </a:solidFill>
                <a:latin typeface="Arial"/>
              </a:rPr>
              <a:t>QSLAM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18288"/>
            <a:ext cx="8001000" cy="932688"/>
          </a:xfrm>
        </p:spPr>
        <p:txBody>
          <a:bodyPr/>
          <a:lstStyle/>
          <a:p>
            <a:pPr eaLnBrk="1" hangingPunct="1"/>
            <a:r>
              <a:rPr lang="en-US" sz="25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QSLAM — maps and vision replace GPS, end to end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500" b="1"/>
              <a:t>QSLAM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65760" y="1024128"/>
            <a:ext cx="58521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350" b="1" i="0">
                <a:solidFill>
                  <a:srgbClr val="1F4E79"/>
                </a:solidFill>
                <a:latin typeface="Arial"/>
              </a:rPr>
              <a:t>Proposed solution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365760" y="1316736"/>
            <a:ext cx="589788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155575" indent="-155575">
              <a:spcBef>
                <a:spcPts val="400"/>
              </a:spcBef>
              <a:buFont typeface="Arial"/>
              <a:buChar char="•"/>
            </a:pPr>
            <a:r>
              <a:rPr sz="1150" b="0" i="0">
                <a:solidFill>
                  <a:srgbClr val="1A1A1A"/>
                </a:solidFill>
                <a:latin typeface="Arial"/>
              </a:rPr>
              <a:t>Operator gives one destination in UTM — nothing else</a:t>
            </a:r>
          </a:p>
          <a:p>
            <a:pPr marL="155575" indent="-155575">
              <a:spcBef>
                <a:spcPts val="400"/>
              </a:spcBef>
              <a:buFont typeface="Arial"/>
              <a:buChar char="•"/>
            </a:pPr>
            <a:r>
              <a:rPr sz="1150" b="0" i="0">
                <a:solidFill>
                  <a:srgbClr val="1A1A1A"/>
                </a:solidFill>
                <a:latin typeface="Arial"/>
              </a:rPr>
              <a:t>Stereo vision, IMU and wheel odometry carry the UGV there</a:t>
            </a:r>
          </a:p>
          <a:p>
            <a:pPr marL="155575" indent="-155575">
              <a:spcBef>
                <a:spcPts val="400"/>
              </a:spcBef>
              <a:buFont typeface="Arial"/>
              <a:buChar char="•"/>
            </a:pPr>
            <a:r>
              <a:rPr sz="1150" b="0" i="0">
                <a:solidFill>
                  <a:srgbClr val="1A1A1A"/>
                </a:solidFill>
                <a:latin typeface="Arial"/>
              </a:rPr>
              <a:t>Preloaded satellite / DEM maps replace the satellite fix</a:t>
            </a:r>
          </a:p>
          <a:p>
            <a:pPr marL="155575" indent="-155575">
              <a:spcBef>
                <a:spcPts val="400"/>
              </a:spcBef>
              <a:buFont typeface="Arial"/>
              <a:buChar char="•"/>
            </a:pPr>
            <a:r>
              <a:rPr sz="1150" b="0" i="0">
                <a:solidFill>
                  <a:srgbClr val="1A1A1A"/>
                </a:solidFill>
                <a:latin typeface="Arial"/>
              </a:rPr>
              <a:t>No GNSS receiver at any stage — nothing to jam or spoof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365760" y="2761488"/>
            <a:ext cx="58521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350" b="1" i="0">
                <a:solidFill>
                  <a:srgbClr val="1F4E79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365760" y="3054096"/>
            <a:ext cx="5897880" cy="1417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155575" indent="-155575">
              <a:spcBef>
                <a:spcPts val="400"/>
              </a:spcBef>
              <a:buFont typeface="Arial"/>
              <a:buChar char="•"/>
            </a:pPr>
            <a:r>
              <a:rPr sz="1150" b="0" i="0">
                <a:solidFill>
                  <a:srgbClr val="1A1A1A"/>
                </a:solidFill>
                <a:latin typeface="Arial"/>
              </a:rPr>
              <a:t>Start pose and heading from map matching, no compass needed</a:t>
            </a:r>
          </a:p>
          <a:p>
            <a:pPr marL="155575" indent="-155575">
              <a:spcBef>
                <a:spcPts val="400"/>
              </a:spcBef>
              <a:buFont typeface="Arial"/>
              <a:buChar char="•"/>
            </a:pPr>
            <a:r>
              <a:rPr sz="1150" b="0" i="0">
                <a:solidFill>
                  <a:srgbClr val="1A1A1A"/>
                </a:solidFill>
                <a:latin typeface="Arial"/>
              </a:rPr>
              <a:t>Map re-anchoring every ~200 m keeps drift bounded on one-way runs</a:t>
            </a:r>
          </a:p>
          <a:p>
            <a:pPr marL="155575" indent="-155575">
              <a:spcBef>
                <a:spcPts val="400"/>
              </a:spcBef>
              <a:buFont typeface="Arial"/>
              <a:buChar char="•"/>
            </a:pPr>
            <a:r>
              <a:rPr sz="1150" b="0" i="0">
                <a:solidFill>
                  <a:srgbClr val="1A1A1A"/>
                </a:solidFill>
                <a:latin typeface="Arial"/>
              </a:rPr>
              <a:t>Semantic + 2.5D elevation perception finds safe ground</a:t>
            </a:r>
          </a:p>
          <a:p>
            <a:pPr marL="155575" indent="-155575">
              <a:spcBef>
                <a:spcPts val="400"/>
              </a:spcBef>
              <a:buFont typeface="Arial"/>
              <a:buChar char="•"/>
            </a:pPr>
            <a:r>
              <a:rPr sz="1150" b="0" i="0">
                <a:solidFill>
                  <a:srgbClr val="1A1A1A"/>
                </a:solidFill>
                <a:latin typeface="Arial"/>
              </a:rPr>
              <a:t>Hybrid-A* and MPPI drive it; Collision Monitor guards it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6492240" y="1024128"/>
            <a:ext cx="5303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350" b="1" i="0">
                <a:solidFill>
                  <a:srgbClr val="B5651D"/>
                </a:solidFill>
                <a:latin typeface="Arial"/>
              </a:rPr>
              <a:t>Innovation and uniqueness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6492240" y="1316736"/>
            <a:ext cx="5330952" cy="969264"/>
          </a:xfrm>
          <a:prstGeom prst="roundRect">
            <a:avLst>
              <a:gd name="adj" fmla="val 7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TextBox 15367"/>
          <p:cNvSpPr txBox="1"/>
          <p:nvPr/>
        </p:nvSpPr>
        <p:spPr>
          <a:xfrm>
            <a:off x="6620256" y="1399032"/>
            <a:ext cx="5074920" cy="8412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buNone/>
            </a:pPr>
            <a:r>
              <a:rPr sz="1200" b="1">
                <a:solidFill>
                  <a:srgbClr val="B5651D"/>
                </a:solidFill>
                <a:latin typeface="Arial"/>
              </a:rPr>
              <a:t>★  </a:t>
            </a:r>
            <a:r>
              <a:rPr sz="1200" b="1">
                <a:solidFill>
                  <a:srgbClr val="1F4E79"/>
                </a:solidFill>
                <a:latin typeface="Arial"/>
              </a:rPr>
              <a:t>Map-anchored global localization</a:t>
            </a:r>
          </a:p>
          <a:p>
            <a:pPr>
              <a:spcBef>
                <a:spcPts val="300"/>
              </a:spcBef>
              <a:buNone/>
            </a:pPr>
            <a:r>
              <a:rPr sz="1000" b="0" i="0">
                <a:solidFill>
                  <a:srgbClr val="4A4A4A"/>
                </a:solidFill>
                <a:latin typeface="Arial"/>
              </a:rPr>
              <a:t>Passive BEV ↔ satellite / DEM matching fixes pose, heading and drift — the role GPS used to play.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6492240" y="2377439"/>
            <a:ext cx="5330952" cy="969264"/>
          </a:xfrm>
          <a:prstGeom prst="roundRect">
            <a:avLst>
              <a:gd name="adj" fmla="val 7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TextBox 15369"/>
          <p:cNvSpPr txBox="1"/>
          <p:nvPr/>
        </p:nvSpPr>
        <p:spPr>
          <a:xfrm>
            <a:off x="6620256" y="2459735"/>
            <a:ext cx="5074920" cy="8412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buNone/>
            </a:pPr>
            <a:r>
              <a:rPr sz="1200" b="1">
                <a:solidFill>
                  <a:srgbClr val="B5651D"/>
                </a:solidFill>
                <a:latin typeface="Arial"/>
              </a:rPr>
              <a:t>★  </a:t>
            </a:r>
            <a:r>
              <a:rPr sz="1200" b="1">
                <a:solidFill>
                  <a:srgbClr val="1F4E79"/>
                </a:solidFill>
                <a:latin typeface="Arial"/>
              </a:rPr>
              <a:t>Localizability-aware navigation</a:t>
            </a:r>
          </a:p>
          <a:p>
            <a:pPr>
              <a:spcBef>
                <a:spcPts val="300"/>
              </a:spcBef>
              <a:buNone/>
            </a:pPr>
            <a:r>
              <a:rPr sz="1000" b="0" i="0">
                <a:solidFill>
                  <a:srgbClr val="4A4A4A"/>
                </a:solidFill>
                <a:latin typeface="Arial"/>
              </a:rPr>
              <a:t>A custom Nav2 cost layer scores feature density, so the route stays where vision keeps working.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6492240" y="3438144"/>
            <a:ext cx="5330952" cy="969264"/>
          </a:xfrm>
          <a:prstGeom prst="roundRect">
            <a:avLst>
              <a:gd name="adj" fmla="val 7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TextBox 15371"/>
          <p:cNvSpPr txBox="1"/>
          <p:nvPr/>
        </p:nvSpPr>
        <p:spPr>
          <a:xfrm>
            <a:off x="6620256" y="3520439"/>
            <a:ext cx="5074920" cy="8412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buNone/>
            </a:pPr>
            <a:r>
              <a:rPr sz="1200" b="1">
                <a:solidFill>
                  <a:srgbClr val="B5651D"/>
                </a:solidFill>
                <a:latin typeface="Arial"/>
              </a:rPr>
              <a:t>★  </a:t>
            </a:r>
            <a:r>
              <a:rPr sz="1200" b="1">
                <a:solidFill>
                  <a:srgbClr val="1F4E79"/>
                </a:solidFill>
                <a:latin typeface="Arial"/>
              </a:rPr>
              <a:t>Localization integrity monitor</a:t>
            </a:r>
          </a:p>
          <a:p>
            <a:pPr>
              <a:spcBef>
                <a:spcPts val="300"/>
              </a:spcBef>
              <a:buNone/>
            </a:pPr>
            <a:r>
              <a:rPr sz="1000" b="0" i="0">
                <a:solidFill>
                  <a:srgbClr val="4A4A4A"/>
                </a:solidFill>
                <a:latin typeface="Arial"/>
              </a:rPr>
              <a:t>Cross-checks VIO against IMU and wheels every cycle — degraded mode instead of silent drift.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365760" y="4754880"/>
            <a:ext cx="3688080" cy="1170432"/>
          </a:xfrm>
          <a:prstGeom prst="roundRect">
            <a:avLst>
              <a:gd name="adj" fmla="val 7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TextBox 15373"/>
          <p:cNvSpPr txBox="1"/>
          <p:nvPr/>
        </p:nvSpPr>
        <p:spPr>
          <a:xfrm>
            <a:off x="411480" y="4828032"/>
            <a:ext cx="3596640" cy="56180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2100" b="1" i="0">
                <a:solidFill>
                  <a:srgbClr val="2E74B5"/>
                </a:solidFill>
                <a:latin typeface="Arial"/>
              </a:rPr>
              <a:t>− 88 %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411480" y="5316687"/>
            <a:ext cx="3596640" cy="58521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900" b="0" i="0">
                <a:solidFill>
                  <a:srgbClr val="4A4A4A"/>
                </a:solidFill>
                <a:latin typeface="Arial"/>
              </a:rPr>
              <a:t>position error after 3 km, no GNSS</a:t>
            </a:r>
          </a:p>
          <a:p>
            <a:pPr algn="ctr">
              <a:spcBef>
                <a:spcPts val="100"/>
              </a:spcBef>
              <a:buNone/>
            </a:pPr>
            <a:r>
              <a:rPr sz="900" b="0" i="0">
                <a:solidFill>
                  <a:srgbClr val="4A4A4A"/>
                </a:solidFill>
                <a:latin typeface="Arial"/>
              </a:rPr>
              <a:t>89.6 m → 10.6 m   (PoC)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4218432" y="4754880"/>
            <a:ext cx="3688080" cy="1170432"/>
          </a:xfrm>
          <a:prstGeom prst="roundRect">
            <a:avLst>
              <a:gd name="adj" fmla="val 7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TextBox 15376"/>
          <p:cNvSpPr txBox="1"/>
          <p:nvPr/>
        </p:nvSpPr>
        <p:spPr>
          <a:xfrm>
            <a:off x="4264152" y="4828032"/>
            <a:ext cx="3596640" cy="56180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2100" b="1" i="0">
                <a:solidFill>
                  <a:srgbClr val="2E74B5"/>
                </a:solidFill>
                <a:latin typeface="Arial"/>
              </a:rPr>
              <a:t>− 59 %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4264152" y="5316687"/>
            <a:ext cx="3596640" cy="58521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900" b="0" i="0">
                <a:solidFill>
                  <a:srgbClr val="4A4A4A"/>
                </a:solidFill>
                <a:latin typeface="Arial"/>
              </a:rPr>
              <a:t>arrival error vs traversability-only</a:t>
            </a:r>
          </a:p>
          <a:p>
            <a:pPr algn="ctr">
              <a:spcBef>
                <a:spcPts val="100"/>
              </a:spcBef>
              <a:buNone/>
            </a:pPr>
            <a:r>
              <a:rPr sz="900" b="0" i="0">
                <a:solidFill>
                  <a:srgbClr val="4A4A4A"/>
                </a:solidFill>
                <a:latin typeface="Arial"/>
              </a:rPr>
              <a:t>planner, for +18 % path   (PoC)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8071104" y="4754880"/>
            <a:ext cx="3688080" cy="1170432"/>
          </a:xfrm>
          <a:prstGeom prst="roundRect">
            <a:avLst>
              <a:gd name="adj" fmla="val 7000"/>
            </a:avLst>
          </a:prstGeom>
          <a:solidFill>
            <a:srgbClr val="EA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0" name="TextBox 15379"/>
          <p:cNvSpPr txBox="1"/>
          <p:nvPr/>
        </p:nvSpPr>
        <p:spPr>
          <a:xfrm>
            <a:off x="8116824" y="4828032"/>
            <a:ext cx="3596640" cy="56180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2100" b="1" i="0">
                <a:solidFill>
                  <a:srgbClr val="2C5F2D"/>
                </a:solidFill>
                <a:latin typeface="Arial"/>
              </a:rPr>
              <a:t>0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8116824" y="5316687"/>
            <a:ext cx="3596640" cy="58521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900" b="0" i="0">
                <a:solidFill>
                  <a:srgbClr val="4A4A4A"/>
                </a:solidFill>
                <a:latin typeface="Arial"/>
              </a:rPr>
              <a:t>GNSS receivers, at any stage</a:t>
            </a:r>
          </a:p>
          <a:p>
            <a:pPr algn="ctr">
              <a:spcBef>
                <a:spcPts val="100"/>
              </a:spcBef>
              <a:buNone/>
            </a:pPr>
            <a:r>
              <a:rPr sz="900" b="0" i="0">
                <a:solidFill>
                  <a:srgbClr val="4A4A4A"/>
                </a:solidFill>
                <a:latin typeface="Arial"/>
              </a:rPr>
              <a:t>of any mission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500" b="1"/>
              <a:t>QSLAM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024128"/>
            <a:ext cx="58521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350" b="1" i="0">
                <a:solidFill>
                  <a:srgbClr val="1F4E79"/>
                </a:solidFill>
                <a:latin typeface="Arial"/>
              </a:rPr>
              <a:t>Technologies to be used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316736"/>
            <a:ext cx="5897880" cy="640080"/>
          </a:xfrm>
          <a:prstGeom prst="roundRect">
            <a:avLst>
              <a:gd name="adj" fmla="val 7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484632" y="1353312"/>
            <a:ext cx="566928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buNone/>
            </a:pPr>
            <a:r>
              <a:rPr sz="1100" b="1">
                <a:solidFill>
                  <a:srgbClr val="2E74B5"/>
                </a:solidFill>
                <a:latin typeface="Arial"/>
              </a:rPr>
              <a:t>●  </a:t>
            </a:r>
            <a:r>
              <a:rPr sz="1100" b="1">
                <a:solidFill>
                  <a:srgbClr val="1F4E79"/>
                </a:solidFill>
                <a:latin typeface="Arial"/>
              </a:rPr>
              <a:t>Sensing</a:t>
            </a:r>
          </a:p>
          <a:p>
            <a:pPr>
              <a:spcBef>
                <a:spcPts val="200"/>
              </a:spcBef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ZED X stereo camera (RGB · depth · IMU) · wheel encoders · no GNSS receiver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65760" y="2011680"/>
            <a:ext cx="5897880" cy="640080"/>
          </a:xfrm>
          <a:prstGeom prst="roundRect">
            <a:avLst>
              <a:gd name="adj" fmla="val 7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484632" y="2048256"/>
            <a:ext cx="566928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buNone/>
            </a:pPr>
            <a:r>
              <a:rPr sz="1100" b="1">
                <a:solidFill>
                  <a:srgbClr val="2E74B5"/>
                </a:solidFill>
                <a:latin typeface="Arial"/>
              </a:rPr>
              <a:t>●  </a:t>
            </a:r>
            <a:r>
              <a:rPr sz="1100" b="1">
                <a:solidFill>
                  <a:srgbClr val="1F4E79"/>
                </a:solidFill>
                <a:latin typeface="Arial"/>
              </a:rPr>
              <a:t>Localization</a:t>
            </a:r>
          </a:p>
          <a:p>
            <a:pPr>
              <a:spcBef>
                <a:spcPts val="200"/>
              </a:spcBef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Isaac ROS cuVSLAM · robot_localization EKF · cross-view BEV-to-satellite matcher · GeographicLib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65760" y="2706624"/>
            <a:ext cx="5897880" cy="640080"/>
          </a:xfrm>
          <a:prstGeom prst="roundRect">
            <a:avLst>
              <a:gd name="adj" fmla="val 7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484632" y="2743200"/>
            <a:ext cx="566928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buNone/>
            </a:pPr>
            <a:r>
              <a:rPr sz="1100" b="1">
                <a:solidFill>
                  <a:srgbClr val="2E74B5"/>
                </a:solidFill>
                <a:latin typeface="Arial"/>
              </a:rPr>
              <a:t>●  </a:t>
            </a:r>
            <a:r>
              <a:rPr sz="1100" b="1">
                <a:solidFill>
                  <a:srgbClr val="1F4E79"/>
                </a:solidFill>
                <a:latin typeface="Arial"/>
              </a:rPr>
              <a:t>Perception</a:t>
            </a:r>
          </a:p>
          <a:p>
            <a:pPr>
              <a:spcBef>
                <a:spcPts val="200"/>
              </a:spcBef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SegFormer fine-tuned on RELLIS-3D + RUGD · TensorRT · elevation_mapping_cupy (GPU)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65760" y="3401568"/>
            <a:ext cx="5897880" cy="640080"/>
          </a:xfrm>
          <a:prstGeom prst="roundRect">
            <a:avLst>
              <a:gd name="adj" fmla="val 7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484632" y="3438144"/>
            <a:ext cx="566928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buNone/>
            </a:pPr>
            <a:r>
              <a:rPr sz="1100" b="1">
                <a:solidFill>
                  <a:srgbClr val="2E74B5"/>
                </a:solidFill>
                <a:latin typeface="Arial"/>
              </a:rPr>
              <a:t>●  </a:t>
            </a:r>
            <a:r>
              <a:rPr sz="1100" b="1">
                <a:solidFill>
                  <a:srgbClr val="1F4E79"/>
                </a:solidFill>
                <a:latin typeface="Arial"/>
              </a:rPr>
              <a:t>Planning &amp; control</a:t>
            </a:r>
          </a:p>
          <a:p>
            <a:pPr>
              <a:spcBef>
                <a:spcPts val="200"/>
              </a:spcBef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ROS 2 Nav2 · Smac Hybrid-A* · MPPI · Collision Monitor · custom C++ costmap plugins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65760" y="4096511"/>
            <a:ext cx="5897880" cy="640080"/>
          </a:xfrm>
          <a:prstGeom prst="roundRect">
            <a:avLst>
              <a:gd name="adj" fmla="val 7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484632" y="4133087"/>
            <a:ext cx="566928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buNone/>
            </a:pPr>
            <a:r>
              <a:rPr sz="1100" b="1">
                <a:solidFill>
                  <a:srgbClr val="2E74B5"/>
                </a:solidFill>
                <a:latin typeface="Arial"/>
              </a:rPr>
              <a:t>●  </a:t>
            </a:r>
            <a:r>
              <a:rPr sz="1100" b="1">
                <a:solidFill>
                  <a:srgbClr val="1F4E79"/>
                </a:solidFill>
                <a:latin typeface="Arial"/>
              </a:rPr>
              <a:t>Platform</a:t>
            </a:r>
          </a:p>
          <a:p>
            <a:pPr>
              <a:spcBef>
                <a:spcPts val="200"/>
              </a:spcBef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ROS 2 Jazzy · CUDA · C++17 / Python · Jetson AGX Orin target · Isaac Sim 6 on RTX 4090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365760" y="4791455"/>
            <a:ext cx="5897880" cy="640080"/>
          </a:xfrm>
          <a:prstGeom prst="roundRect">
            <a:avLst>
              <a:gd name="adj" fmla="val 7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484632" y="4828031"/>
            <a:ext cx="566928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buNone/>
            </a:pPr>
            <a:r>
              <a:rPr sz="1100" b="1">
                <a:solidFill>
                  <a:srgbClr val="2E74B5"/>
                </a:solidFill>
                <a:latin typeface="Arial"/>
              </a:rPr>
              <a:t>●  </a:t>
            </a:r>
            <a:r>
              <a:rPr sz="1100" b="1">
                <a:solidFill>
                  <a:srgbClr val="1F4E79"/>
                </a:solidFill>
                <a:latin typeface="Arial"/>
              </a:rPr>
              <a:t>Maps &amp; data</a:t>
            </a:r>
          </a:p>
          <a:p>
            <a:pPr>
              <a:spcBef>
                <a:spcPts val="200"/>
              </a:spcBef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ISRO Bhuvan / Cartosat imagery + DEM, preloaded offline · RELLIS-3D, RUGD for training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65760" y="5504688"/>
            <a:ext cx="5897880" cy="566928"/>
          </a:xfrm>
          <a:prstGeom prst="roundRect">
            <a:avLst>
              <a:gd name="adj" fmla="val 7000"/>
            </a:avLst>
          </a:prstGeom>
          <a:solidFill>
            <a:srgbClr val="EA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457200" y="5596128"/>
            <a:ext cx="57150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050" b="1" i="0">
                <a:solidFill>
                  <a:srgbClr val="2C5F2D"/>
                </a:solidFill>
                <a:latin typeface="Arial"/>
              </a:rPr>
              <a:t>Proven components reused · QSLAM adds the new modules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492240" y="1024128"/>
            <a:ext cx="53035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350" b="1" i="0">
                <a:solidFill>
                  <a:srgbClr val="1F4E79"/>
                </a:solidFill>
                <a:latin typeface="Arial"/>
              </a:rPr>
              <a:t>Methodology and process for implementation</a:t>
            </a:r>
          </a:p>
        </p:txBody>
      </p:sp>
      <p:pic>
        <p:nvPicPr>
          <p:cNvPr id="17426" name="Picture 17425" descr="qslam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316736"/>
            <a:ext cx="5330952" cy="3674549"/>
          </a:xfrm>
          <a:prstGeom prst="rect">
            <a:avLst/>
          </a:prstGeom>
        </p:spPr>
      </p:pic>
      <p:sp>
        <p:nvSpPr>
          <p:cNvPr id="17427" name="Rounded Rectangle 17426"/>
          <p:cNvSpPr/>
          <p:nvPr/>
        </p:nvSpPr>
        <p:spPr>
          <a:xfrm>
            <a:off x="6492240" y="5138928"/>
            <a:ext cx="5330952" cy="932688"/>
          </a:xfrm>
          <a:prstGeom prst="roundRect">
            <a:avLst>
              <a:gd name="adj" fmla="val 7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6620256" y="5230368"/>
            <a:ext cx="5074920" cy="8046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buNone/>
            </a:pPr>
            <a:r>
              <a:rPr sz="1100" b="1">
                <a:solidFill>
                  <a:srgbClr val="B5651D"/>
                </a:solidFill>
                <a:latin typeface="Arial"/>
              </a:rPr>
              <a:t>★  </a:t>
            </a:r>
            <a:r>
              <a:rPr sz="1100" b="1">
                <a:solidFill>
                  <a:srgbClr val="1F4E79"/>
                </a:solidFill>
                <a:latin typeface="Arial"/>
              </a:rPr>
              <a:t>marks QSLAM's own contribution</a:t>
            </a:r>
          </a:p>
          <a:p>
            <a:pPr>
              <a:spcBef>
                <a:spcPts val="300"/>
              </a:spcBef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Everything else is production-grade, open-source software we reuse rather than rebuild.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500" b="1"/>
              <a:t>QSLAM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005840"/>
            <a:ext cx="82296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350" b="1" i="0">
                <a:solidFill>
                  <a:srgbClr val="1F4E79"/>
                </a:solidFill>
                <a:latin typeface="Arial"/>
              </a:rPr>
              <a:t>Analysis of the feasibility — measured, not asserted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316736"/>
            <a:ext cx="3688080" cy="1481328"/>
          </a:xfrm>
          <a:prstGeom prst="roundRect">
            <a:avLst>
              <a:gd name="adj" fmla="val 7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438912" y="1389888"/>
            <a:ext cx="354177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2300" b="1" i="0">
                <a:solidFill>
                  <a:srgbClr val="2E74B5"/>
                </a:solidFill>
                <a:latin typeface="Arial"/>
              </a:rPr>
              <a:t>− 59 %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38912" y="1874519"/>
            <a:ext cx="3541776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900" b="0" i="0">
                <a:solidFill>
                  <a:srgbClr val="4A4A4A"/>
                </a:solidFill>
                <a:latin typeface="Arial"/>
              </a:rPr>
              <a:t>PoC-1  ·  localizability layer</a:t>
            </a:r>
          </a:p>
          <a:p>
            <a:pPr algn="ctr">
              <a:spcBef>
                <a:spcPts val="200"/>
              </a:spcBef>
              <a:buNone/>
            </a:pPr>
            <a:r>
              <a:rPr sz="900" b="0" i="0">
                <a:solidFill>
                  <a:srgbClr val="4A4A4A"/>
                </a:solidFill>
                <a:latin typeface="Arial"/>
              </a:rPr>
              <a:t>arrival error vs traversability-only planner (+18 % path)</a:t>
            </a:r>
          </a:p>
          <a:p>
            <a:pPr algn="ctr">
              <a:spcBef>
                <a:spcPts val="200"/>
              </a:spcBef>
              <a:buNone/>
            </a:pPr>
            <a:r>
              <a:rPr sz="900" b="0" i="0">
                <a:solidFill>
                  <a:srgbClr val="4A4A4A"/>
                </a:solidFill>
                <a:latin typeface="Arial"/>
              </a:rPr>
              <a:t>1 km synthetic terrain · 300 Monte-Carlo runs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18432" y="1316736"/>
            <a:ext cx="3688080" cy="1481328"/>
          </a:xfrm>
          <a:prstGeom prst="roundRect">
            <a:avLst>
              <a:gd name="adj" fmla="val 7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4291584" y="1389888"/>
            <a:ext cx="354177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2300" b="1" i="0">
                <a:solidFill>
                  <a:srgbClr val="2E74B5"/>
                </a:solidFill>
                <a:latin typeface="Arial"/>
              </a:rPr>
              <a:t>− 88 %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291584" y="1874519"/>
            <a:ext cx="3541776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900" b="0" i="0">
                <a:solidFill>
                  <a:srgbClr val="4A4A4A"/>
                </a:solidFill>
                <a:latin typeface="Arial"/>
              </a:rPr>
              <a:t>PoC-2  ·  map anchoring</a:t>
            </a:r>
          </a:p>
          <a:p>
            <a:pPr algn="ctr">
              <a:spcBef>
                <a:spcPts val="200"/>
              </a:spcBef>
              <a:buNone/>
            </a:pPr>
            <a:r>
              <a:rPr sz="900" b="0" i="0">
                <a:solidFill>
                  <a:srgbClr val="4A4A4A"/>
                </a:solidFill>
                <a:latin typeface="Arial"/>
              </a:rPr>
              <a:t>position error after 3 km with no GNSS (89.6 m → 10.6 m)</a:t>
            </a:r>
          </a:p>
          <a:p>
            <a:pPr algn="ctr">
              <a:spcBef>
                <a:spcPts val="200"/>
              </a:spcBef>
              <a:buNone/>
            </a:pPr>
            <a:r>
              <a:rPr sz="900" b="0" i="0">
                <a:solidFill>
                  <a:srgbClr val="4A4A4A"/>
                </a:solidFill>
                <a:latin typeface="Arial"/>
              </a:rPr>
              <a:t>match σ 5 m · 75 % success · 300 runs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071104" y="1316736"/>
            <a:ext cx="3688080" cy="1481328"/>
          </a:xfrm>
          <a:prstGeom prst="roundRect">
            <a:avLst>
              <a:gd name="adj" fmla="val 7000"/>
            </a:avLst>
          </a:prstGeom>
          <a:solidFill>
            <a:srgbClr val="EA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8144256" y="1389888"/>
            <a:ext cx="3541776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2300" b="1" i="0">
                <a:solidFill>
                  <a:srgbClr val="2C5F2D"/>
                </a:solidFill>
                <a:latin typeface="Arial"/>
              </a:rPr>
              <a:t>189 m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8144256" y="1874519"/>
            <a:ext cx="3541776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900" b="0" i="0">
                <a:solidFill>
                  <a:srgbClr val="4A4A4A"/>
                </a:solidFill>
                <a:latin typeface="Arial"/>
              </a:rPr>
              <a:t>Integration testbed  ·  Isaac Sim 6</a:t>
            </a:r>
          </a:p>
          <a:p>
            <a:pPr algn="ctr">
              <a:spcBef>
                <a:spcPts val="200"/>
              </a:spcBef>
              <a:buNone/>
            </a:pPr>
            <a:r>
              <a:rPr sz="900" b="0" i="0">
                <a:solidFill>
                  <a:srgbClr val="4A4A4A"/>
                </a:solidFill>
                <a:latin typeface="Arial"/>
              </a:rPr>
              <a:t>GPS-free traverse to a UTM goal, 1.09 m drift</a:t>
            </a:r>
          </a:p>
          <a:p>
            <a:pPr algn="ctr">
              <a:spcBef>
                <a:spcPts val="200"/>
              </a:spcBef>
              <a:buNone/>
            </a:pPr>
            <a:r>
              <a:rPr sz="900" b="0" i="0">
                <a:solidFill>
                  <a:srgbClr val="4A4A4A"/>
                </a:solidFill>
                <a:latin typeface="Arial"/>
              </a:rPr>
              <a:t>7 recoveries handled autonomously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65760" y="2944368"/>
            <a:ext cx="82296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350" b="1" i="0">
                <a:solidFill>
                  <a:srgbClr val="1F4E79"/>
                </a:solidFill>
                <a:latin typeface="Arial"/>
              </a:rPr>
              <a:t>Potential challenges and risks  →  strategies for overcoming them</a:t>
            </a:r>
          </a:p>
        </p:txBody>
      </p:sp>
      <p:graphicFrame>
        <p:nvGraphicFramePr>
          <p:cNvPr id="17421" name="Table 17420"/>
          <p:cNvGraphicFramePr>
            <a:graphicFrameLocks noGrp="1"/>
          </p:cNvGraphicFramePr>
          <p:nvPr/>
        </p:nvGraphicFramePr>
        <p:xfrm>
          <a:off x="365760" y="3255264"/>
          <a:ext cx="11393424" cy="28712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11880"/>
                <a:gridCol w="7781544"/>
              </a:tblGrid>
              <a:tr h="2926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Challenge / risk</a:t>
                      </a:r>
                    </a:p>
                  </a:txBody>
                  <a:tcPr marL="73152" marR="73152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Strategy for overcoming it</a:t>
                      </a:r>
                    </a:p>
                  </a:txBody>
                  <a:tcPr marL="73152" marR="73152" marT="18288" marB="18288">
                    <a:solidFill>
                      <a:srgbClr val="1F4E7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sz="1000" b="1" i="0">
                          <a:solidFill>
                            <a:srgbClr val="1F4E79"/>
                          </a:solidFill>
                          <a:latin typeface="Arial"/>
                        </a:rPr>
                        <a:t>Start pose and heading unknown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BEV-to-satellite / DEM match gives UTM pose and heading; surveyed launch point as fallback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sz="1000" b="1" i="0">
                          <a:solidFill>
                            <a:srgbClr val="1F4E79"/>
                          </a:solidFill>
                          <a:latin typeface="Arial"/>
                        </a:rPr>
                        <a:t>VIO drift on one-way runs</a:t>
                      </a:r>
                    </a:p>
                  </a:txBody>
                  <a:tcPr marL="73152" marR="73152" marT="18288" marB="18288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Re-anchor to the map every ~200 m; wheel-odometry EKF and localizability-aware routing bound the error</a:t>
                      </a:r>
                    </a:p>
                  </a:txBody>
                  <a:tcPr marL="73152" marR="73152" marT="18288" marB="18288">
                    <a:solidFill>
                      <a:srgbClr val="EEF3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sz="1000" b="1" i="0">
                          <a:solidFill>
                            <a:srgbClr val="1F4E79"/>
                          </a:solidFill>
                          <a:latin typeface="Arial"/>
                        </a:rPr>
                        <a:t>Goal lies beyond sensor range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Rolling global costmap; unknown cells carry an optimistic cost; Hybrid-A* replans as the map fills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sz="1000" b="1" i="0">
                          <a:solidFill>
                            <a:srgbClr val="1F4E79"/>
                          </a:solidFill>
                          <a:latin typeface="Arial"/>
                        </a:rPr>
                        <a:t>Ditches, slopes and drops</a:t>
                      </a:r>
                    </a:p>
                  </a:txBody>
                  <a:tcPr marL="73152" marR="73152" marT="18288" marB="18288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GPU 2.5D elevation map turns slope, step height and roughness into costs, fused with semantic classes</a:t>
                      </a:r>
                    </a:p>
                  </a:txBody>
                  <a:tcPr marL="73152" marR="73152" marT="18288" marB="18288">
                    <a:solidFill>
                      <a:srgbClr val="EEF3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sz="1000" b="1" i="0">
                          <a:solidFill>
                            <a:srgbClr val="1F4E79"/>
                          </a:solidFill>
                          <a:latin typeface="Arial"/>
                        </a:rPr>
                        <a:t>Vision degrades — night, dust, low texture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IMU and wheel dead-reckoning bridge outages; degraded mode slows, then safe-stops; thermal as an upgrade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sz="1000" b="1" i="0">
                          <a:solidFill>
                            <a:srgbClr val="1F4E79"/>
                          </a:solidFill>
                          <a:latin typeface="Arial"/>
                        </a:rPr>
                        <a:t>Onboard compute budget</a:t>
                      </a:r>
                    </a:p>
                  </a:txBody>
                  <a:tcPr marL="73152" marR="73152" marT="18288" marB="18288"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buNone/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Arial"/>
                        </a:rPr>
                        <a:t>cuVSLAM, TensorRT and CuPy keep every heavy stage on GPU; per-node latency tracked for Jetson AGX Orin</a:t>
                      </a:r>
                    </a:p>
                  </a:txBody>
                  <a:tcPr marL="73152" marR="73152" marT="18288" marB="18288"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500" b="1"/>
              <a:t>QSLAM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005840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350" b="1" i="0">
                <a:solidFill>
                  <a:srgbClr val="1F4E79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298448"/>
            <a:ext cx="3688080" cy="822960"/>
          </a:xfrm>
          <a:prstGeom prst="roundRect">
            <a:avLst>
              <a:gd name="adj" fmla="val 7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475488" y="1353312"/>
            <a:ext cx="3468624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buNone/>
            </a:pPr>
            <a:r>
              <a:rPr sz="1150" b="1">
                <a:solidFill>
                  <a:srgbClr val="2E74B5"/>
                </a:solidFill>
                <a:latin typeface="Arial"/>
              </a:rPr>
              <a:t>●  </a:t>
            </a:r>
            <a:r>
              <a:rPr sz="1150" b="1">
                <a:solidFill>
                  <a:srgbClr val="1F4E79"/>
                </a:solidFill>
                <a:latin typeface="Arial"/>
              </a:rPr>
              <a:t>Armed forces</a:t>
            </a:r>
          </a:p>
          <a:p>
            <a:pPr>
              <a:spcBef>
                <a:spcPts val="300"/>
              </a:spcBef>
              <a:buNone/>
            </a:pPr>
            <a:r>
              <a:rPr sz="1000" b="0" i="0">
                <a:solidFill>
                  <a:srgbClr val="4A4A4A"/>
                </a:solidFill>
                <a:latin typeface="Arial"/>
              </a:rPr>
              <a:t>Navigate where GNSS is unavailable, jammed or spoofed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218432" y="1298448"/>
            <a:ext cx="3688080" cy="822960"/>
          </a:xfrm>
          <a:prstGeom prst="roundRect">
            <a:avLst>
              <a:gd name="adj" fmla="val 7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4328160" y="1353312"/>
            <a:ext cx="3468624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buNone/>
            </a:pPr>
            <a:r>
              <a:rPr sz="1150" b="1">
                <a:solidFill>
                  <a:srgbClr val="2E74B5"/>
                </a:solidFill>
                <a:latin typeface="Arial"/>
              </a:rPr>
              <a:t>●  </a:t>
            </a:r>
            <a:r>
              <a:rPr sz="1150" b="1">
                <a:solidFill>
                  <a:srgbClr val="1F4E79"/>
                </a:solidFill>
                <a:latin typeface="Arial"/>
              </a:rPr>
              <a:t>BEL &amp; defence industry</a:t>
            </a:r>
          </a:p>
          <a:p>
            <a:pPr>
              <a:spcBef>
                <a:spcPts val="300"/>
              </a:spcBef>
              <a:buNone/>
            </a:pPr>
            <a:r>
              <a:rPr sz="1000" b="0" i="0">
                <a:solidFill>
                  <a:srgbClr val="4A4A4A"/>
                </a:solidFill>
                <a:latin typeface="Arial"/>
              </a:rPr>
              <a:t>Drop-in ROS 2 navigation module for existing UGV platforms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8071104" y="1298448"/>
            <a:ext cx="3688080" cy="822960"/>
          </a:xfrm>
          <a:prstGeom prst="roundRect">
            <a:avLst>
              <a:gd name="adj" fmla="val 7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8180832" y="1353312"/>
            <a:ext cx="3468624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buNone/>
            </a:pPr>
            <a:r>
              <a:rPr sz="1150" b="1">
                <a:solidFill>
                  <a:srgbClr val="2E74B5"/>
                </a:solidFill>
                <a:latin typeface="Arial"/>
              </a:rPr>
              <a:t>●  </a:t>
            </a:r>
            <a:r>
              <a:rPr sz="1150" b="1">
                <a:solidFill>
                  <a:srgbClr val="1F4E79"/>
                </a:solidFill>
                <a:latin typeface="Arial"/>
              </a:rPr>
              <a:t>Civil GNSS-denied users</a:t>
            </a:r>
          </a:p>
          <a:p>
            <a:pPr>
              <a:spcBef>
                <a:spcPts val="300"/>
              </a:spcBef>
              <a:buNone/>
            </a:pPr>
            <a:r>
              <a:rPr sz="1000" b="0" i="0">
                <a:solidFill>
                  <a:srgbClr val="4A4A4A"/>
                </a:solidFill>
                <a:latin typeface="Arial"/>
              </a:rPr>
              <a:t>Disaster response, mines, tunnels and dense forest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65760" y="2286000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350" b="1" i="0">
                <a:solidFill>
                  <a:srgbClr val="1F4E79"/>
                </a:solidFill>
                <a:latin typeface="Arial"/>
              </a:rPr>
              <a:t>Mission applications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65760" y="2578608"/>
            <a:ext cx="2738628" cy="457200"/>
          </a:xfrm>
          <a:prstGeom prst="roundRect">
            <a:avLst>
              <a:gd name="adj" fmla="val 7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420624" y="2651760"/>
            <a:ext cx="262890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 i="0">
                <a:solidFill>
                  <a:srgbClr val="B5651D"/>
                </a:solidFill>
                <a:latin typeface="Arial"/>
              </a:rPr>
              <a:t>Reconnaissance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250692" y="2578608"/>
            <a:ext cx="2738628" cy="457200"/>
          </a:xfrm>
          <a:prstGeom prst="roundRect">
            <a:avLst>
              <a:gd name="adj" fmla="val 7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3305556" y="2651760"/>
            <a:ext cx="262890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 i="0">
                <a:solidFill>
                  <a:srgbClr val="B5651D"/>
                </a:solidFill>
                <a:latin typeface="Arial"/>
              </a:rPr>
              <a:t>Border surveillance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135624" y="2578608"/>
            <a:ext cx="2738628" cy="457200"/>
          </a:xfrm>
          <a:prstGeom prst="roundRect">
            <a:avLst>
              <a:gd name="adj" fmla="val 7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6190488" y="2651760"/>
            <a:ext cx="262890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 i="0">
                <a:solidFill>
                  <a:srgbClr val="B5651D"/>
                </a:solidFill>
                <a:latin typeface="Arial"/>
              </a:rPr>
              <a:t>Last-mile resupply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9020556" y="2578608"/>
            <a:ext cx="2738628" cy="457200"/>
          </a:xfrm>
          <a:prstGeom prst="roundRect">
            <a:avLst>
              <a:gd name="adj" fmla="val 7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9075420" y="2651760"/>
            <a:ext cx="262890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100" b="1" i="0">
                <a:solidFill>
                  <a:srgbClr val="B5651D"/>
                </a:solidFill>
                <a:latin typeface="Arial"/>
              </a:rPr>
              <a:t>Hazardous / CBRN zones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365760" y="318211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350" b="1" i="0">
                <a:solidFill>
                  <a:srgbClr val="1F4E79"/>
                </a:solidFill>
                <a:latin typeface="Arial"/>
              </a:rPr>
              <a:t>Benefits of the solution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365760" y="3493008"/>
            <a:ext cx="5632704" cy="40233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buNone/>
            </a:pPr>
            <a:r>
              <a:rPr sz="1050" b="1">
                <a:solidFill>
                  <a:srgbClr val="1F4E79"/>
                </a:solidFill>
                <a:latin typeface="Arial"/>
              </a:rPr>
              <a:t>Strategic — </a:t>
            </a:r>
            <a:r>
              <a:rPr sz="1000" b="0">
                <a:solidFill>
                  <a:srgbClr val="1A1A1A"/>
                </a:solidFill>
                <a:latin typeface="Arial"/>
              </a:rPr>
              <a:t>Immune to jamming and spoofing by design — no satellite signal is used at any stage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126480" y="3493008"/>
            <a:ext cx="5632704" cy="40233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buNone/>
            </a:pPr>
            <a:r>
              <a:rPr sz="1050" b="1">
                <a:solidFill>
                  <a:srgbClr val="1F4E79"/>
                </a:solidFill>
                <a:latin typeface="Arial"/>
              </a:rPr>
              <a:t>Social / safety — </a:t>
            </a:r>
            <a:r>
              <a:rPr sz="1000" b="0">
                <a:solidFill>
                  <a:srgbClr val="1A1A1A"/>
                </a:solidFill>
                <a:latin typeface="Arial"/>
              </a:rPr>
              <a:t>The UGV takes the risky last mile; fewer soldiers exposed in hazardous zones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365760" y="3913632"/>
            <a:ext cx="5632704" cy="40233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buNone/>
            </a:pPr>
            <a:r>
              <a:rPr sz="1050" b="1">
                <a:solidFill>
                  <a:srgbClr val="1F4E79"/>
                </a:solidFill>
                <a:latin typeface="Arial"/>
              </a:rPr>
              <a:t>Economic — </a:t>
            </a:r>
            <a:r>
              <a:rPr sz="1000" b="0">
                <a:solidFill>
                  <a:srgbClr val="1A1A1A"/>
                </a:solidFill>
                <a:latin typeface="Arial"/>
              </a:rPr>
              <a:t>COTS camera and open-source ROS 2 stack; retrofits with no ground infrastructure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126480" y="3913632"/>
            <a:ext cx="5632704" cy="40233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buNone/>
            </a:pPr>
            <a:r>
              <a:rPr sz="1050" b="1">
                <a:solidFill>
                  <a:srgbClr val="1F4E79"/>
                </a:solidFill>
                <a:latin typeface="Arial"/>
              </a:rPr>
              <a:t>Self-reliance — </a:t>
            </a:r>
            <a:r>
              <a:rPr sz="1000" b="0">
                <a:solidFill>
                  <a:srgbClr val="1A1A1A"/>
                </a:solidFill>
                <a:latin typeface="Arial"/>
              </a:rPr>
              <a:t>Indigenous, auditable navigation software BEL can own, adapt and certify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365760" y="4334256"/>
            <a:ext cx="5632704" cy="40233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buNone/>
            </a:pPr>
            <a:r>
              <a:rPr sz="1050" b="1">
                <a:solidFill>
                  <a:srgbClr val="1F4E79"/>
                </a:solidFill>
                <a:latin typeface="Arial"/>
              </a:rPr>
              <a:t>Environmental — </a:t>
            </a:r>
            <a:r>
              <a:rPr sz="1000" b="0">
                <a:solidFill>
                  <a:srgbClr val="1A1A1A"/>
                </a:solidFill>
                <a:latin typeface="Arial"/>
              </a:rPr>
              <a:t>Passive sensing, no RF emissions; suits electric UGVs and cuts manned sorties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365760" y="4882896"/>
            <a:ext cx="86868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350" b="1" i="0">
                <a:solidFill>
                  <a:srgbClr val="1F4E79"/>
                </a:solidFill>
                <a:latin typeface="Arial"/>
              </a:rPr>
              <a:t>Validation targets  ·  Isaac Sim first, then field trials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365760" y="5175504"/>
            <a:ext cx="2176272" cy="914400"/>
          </a:xfrm>
          <a:prstGeom prst="roundRect">
            <a:avLst>
              <a:gd name="adj" fmla="val 7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411480" y="5248656"/>
            <a:ext cx="2084831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500" b="1" i="0">
                <a:solidFill>
                  <a:srgbClr val="2E74B5"/>
                </a:solidFill>
                <a:latin typeface="Arial"/>
              </a:rPr>
              <a:t>≥ 90 %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11480" y="5614416"/>
            <a:ext cx="2084831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850" b="0" i="0">
                <a:solidFill>
                  <a:srgbClr val="4A4A4A"/>
                </a:solidFill>
                <a:latin typeface="Arial"/>
              </a:rPr>
              <a:t>GPS-denied mission</a:t>
            </a:r>
          </a:p>
          <a:p>
            <a:pPr algn="ctr">
              <a:spcBef>
                <a:spcPts val="100"/>
              </a:spcBef>
              <a:buNone/>
            </a:pPr>
            <a:r>
              <a:rPr sz="850" b="0" i="0">
                <a:solidFill>
                  <a:srgbClr val="4A4A4A"/>
                </a:solidFill>
                <a:latin typeface="Arial"/>
              </a:rPr>
              <a:t>success (A → B)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2670048" y="5175504"/>
            <a:ext cx="2176272" cy="914400"/>
          </a:xfrm>
          <a:prstGeom prst="roundRect">
            <a:avLst>
              <a:gd name="adj" fmla="val 7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2715768" y="5248656"/>
            <a:ext cx="2084831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500" b="1" i="0">
                <a:solidFill>
                  <a:srgbClr val="2E74B5"/>
                </a:solidFill>
                <a:latin typeface="Arial"/>
              </a:rPr>
              <a:t>≤ 2 %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2715768" y="5614416"/>
            <a:ext cx="2084831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850" b="0" i="0">
                <a:solidFill>
                  <a:srgbClr val="4A4A4A"/>
                </a:solidFill>
                <a:latin typeface="Arial"/>
              </a:rPr>
              <a:t>position error on</a:t>
            </a:r>
          </a:p>
          <a:p>
            <a:pPr algn="ctr">
              <a:spcBef>
                <a:spcPts val="100"/>
              </a:spcBef>
              <a:buNone/>
            </a:pPr>
            <a:r>
              <a:rPr sz="850" b="0" i="0">
                <a:solidFill>
                  <a:srgbClr val="4A4A4A"/>
                </a:solidFill>
                <a:latin typeface="Arial"/>
              </a:rPr>
              <a:t>arrival, as % of distance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4974336" y="5175504"/>
            <a:ext cx="2176272" cy="914400"/>
          </a:xfrm>
          <a:prstGeom prst="roundRect">
            <a:avLst>
              <a:gd name="adj" fmla="val 7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5020056" y="5248656"/>
            <a:ext cx="2084831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500" b="1" i="0">
                <a:solidFill>
                  <a:srgbClr val="2E74B5"/>
                </a:solidFill>
                <a:latin typeface="Arial"/>
              </a:rPr>
              <a:t>≤ 5 m / 2°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5020056" y="5614416"/>
            <a:ext cx="2084831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850" b="0" i="0">
                <a:solidFill>
                  <a:srgbClr val="4A4A4A"/>
                </a:solidFill>
                <a:latin typeface="Arial"/>
              </a:rPr>
              <a:t>start alignment from</a:t>
            </a:r>
          </a:p>
          <a:p>
            <a:pPr algn="ctr">
              <a:spcBef>
                <a:spcPts val="100"/>
              </a:spcBef>
              <a:buNone/>
            </a:pPr>
            <a:r>
              <a:rPr sz="850" b="0" i="0">
                <a:solidFill>
                  <a:srgbClr val="4A4A4A"/>
                </a:solidFill>
                <a:latin typeface="Arial"/>
              </a:rPr>
              <a:t>map matching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7278624" y="5175504"/>
            <a:ext cx="2176272" cy="914400"/>
          </a:xfrm>
          <a:prstGeom prst="roundRect">
            <a:avLst>
              <a:gd name="adj" fmla="val 7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7324344" y="5248656"/>
            <a:ext cx="2084831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500" b="1" i="0">
                <a:solidFill>
                  <a:srgbClr val="2E74B5"/>
                </a:solidFill>
                <a:latin typeface="Arial"/>
              </a:rPr>
              <a:t>≤ 100 ms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7324344" y="5614416"/>
            <a:ext cx="2084831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850" b="0" i="0">
                <a:solidFill>
                  <a:srgbClr val="4A4A4A"/>
                </a:solidFill>
                <a:latin typeface="Arial"/>
              </a:rPr>
              <a:t>sensing-to-command</a:t>
            </a:r>
          </a:p>
          <a:p>
            <a:pPr algn="ctr">
              <a:spcBef>
                <a:spcPts val="100"/>
              </a:spcBef>
              <a:buNone/>
            </a:pPr>
            <a:r>
              <a:rPr sz="850" b="0" i="0">
                <a:solidFill>
                  <a:srgbClr val="4A4A4A"/>
                </a:solidFill>
                <a:latin typeface="Arial"/>
              </a:rPr>
              <a:t>latency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9582912" y="5175504"/>
            <a:ext cx="2176272" cy="914400"/>
          </a:xfrm>
          <a:prstGeom prst="roundRect">
            <a:avLst>
              <a:gd name="adj" fmla="val 7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9628632" y="5248656"/>
            <a:ext cx="2084831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1500" b="1" i="0">
                <a:solidFill>
                  <a:srgbClr val="2E74B5"/>
                </a:solidFill>
                <a:latin typeface="Arial"/>
              </a:rPr>
              <a:t>≥ 15 FPS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9628632" y="5614416"/>
            <a:ext cx="2084831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850" b="0" i="0">
                <a:solidFill>
                  <a:srgbClr val="4A4A4A"/>
                </a:solidFill>
                <a:latin typeface="Arial"/>
              </a:rPr>
              <a:t>perception rate on</a:t>
            </a:r>
          </a:p>
          <a:p>
            <a:pPr algn="ctr">
              <a:spcBef>
                <a:spcPts val="100"/>
              </a:spcBef>
              <a:buNone/>
            </a:pPr>
            <a:r>
              <a:rPr sz="850" b="0" i="0">
                <a:solidFill>
                  <a:srgbClr val="4A4A4A"/>
                </a:solidFill>
                <a:latin typeface="Arial"/>
              </a:rPr>
              <a:t>Jetson AGX Orin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500" b="1"/>
              <a:t>QSLAM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987552"/>
            <a:ext cx="82296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350" b="1" i="0">
                <a:solidFill>
                  <a:srgbClr val="1F4E79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365760" y="1280160"/>
            <a:ext cx="37033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100" b="1" i="0">
                <a:solidFill>
                  <a:srgbClr val="1F4E79"/>
                </a:solidFill>
                <a:latin typeface="Arial"/>
              </a:rPr>
              <a:t>Localization &amp; SLAM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65760" y="1572768"/>
            <a:ext cx="370332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500"/>
              </a:spcBef>
              <a:buNone/>
            </a:pPr>
            <a:r>
              <a:rPr sz="919" b="0" i="0">
                <a:solidFill>
                  <a:srgbClr val="4A4A4A"/>
                </a:solidFill>
                <a:latin typeface="Arial"/>
              </a:rPr>
              <a:t>[1] Korovko et al., “cuVSLAM: CUDA Accelerated Visual Odometry and Mapping,” arXiv:2506.04359, 2025</a:t>
            </a:r>
          </a:p>
          <a:p>
            <a:pPr>
              <a:spcBef>
                <a:spcPts val="500"/>
              </a:spcBef>
              <a:buNone/>
            </a:pPr>
            <a:r>
              <a:rPr sz="919" b="0" i="0">
                <a:solidFill>
                  <a:srgbClr val="4A4A4A"/>
                </a:solidFill>
                <a:latin typeface="Arial"/>
              </a:rPr>
              <a:t>[2] NVIDIA Isaac ROS Visual SLAM — github.com/NVIDIA-ISAAC-ROS/isaac_ros_visual_slam</a:t>
            </a:r>
          </a:p>
          <a:p>
            <a:pPr>
              <a:spcBef>
                <a:spcPts val="500"/>
              </a:spcBef>
              <a:buNone/>
            </a:pPr>
            <a:r>
              <a:rPr sz="919" b="0" i="0">
                <a:solidFill>
                  <a:srgbClr val="4A4A4A"/>
                </a:solidFill>
                <a:latin typeface="Arial"/>
              </a:rPr>
              <a:t>[3] Cadena et al., “Past, Present and Future of SLAM,” IEEE T-RO, 2016</a:t>
            </a:r>
          </a:p>
          <a:p>
            <a:pPr>
              <a:spcBef>
                <a:spcPts val="500"/>
              </a:spcBef>
              <a:buNone/>
            </a:pPr>
            <a:r>
              <a:rPr sz="919" b="0" i="0">
                <a:solidFill>
                  <a:srgbClr val="4A4A4A"/>
                </a:solidFill>
                <a:latin typeface="Arial"/>
              </a:rPr>
              <a:t>[4] Moore &amp; Stouch, “Generalized EKF for ROS” (robot_localization), IAS-13, 2014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365760" y="3291840"/>
            <a:ext cx="37033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100" b="1" i="0">
                <a:solidFill>
                  <a:srgbClr val="1F4E79"/>
                </a:solidFill>
                <a:latin typeface="Arial"/>
              </a:rPr>
              <a:t>Data &amp; tools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65760" y="3584448"/>
            <a:ext cx="370332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500"/>
              </a:spcBef>
              <a:buNone/>
            </a:pPr>
            <a:r>
              <a:rPr sz="919" b="0" i="0">
                <a:solidFill>
                  <a:srgbClr val="4A4A4A"/>
                </a:solidFill>
                <a:latin typeface="Arial"/>
              </a:rPr>
              <a:t>[14] ISRO / NRSC Bhuvan geoportal — imagery and DEM — bhuvan.nrsc.gov.in</a:t>
            </a:r>
          </a:p>
          <a:p>
            <a:pPr>
              <a:spcBef>
                <a:spcPts val="500"/>
              </a:spcBef>
              <a:buNone/>
            </a:pPr>
            <a:r>
              <a:rPr sz="919" b="0" i="0">
                <a:solidFill>
                  <a:srgbClr val="4A4A4A"/>
                </a:solidFill>
                <a:latin typeface="Arial"/>
              </a:rPr>
              <a:t>[15] NVIDIA Isaac Sim · Stereolabs ZED X SDK · ROS 2 Jazzy documentation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215384" y="1280160"/>
            <a:ext cx="37033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100" b="1" i="0">
                <a:solidFill>
                  <a:srgbClr val="1F4E79"/>
                </a:solidFill>
                <a:latin typeface="Arial"/>
              </a:rPr>
              <a:t>Navigation &amp; planning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215384" y="1572768"/>
            <a:ext cx="370332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500"/>
              </a:spcBef>
              <a:buNone/>
            </a:pPr>
            <a:r>
              <a:rPr sz="919" b="0" i="0">
                <a:solidFill>
                  <a:srgbClr val="4A4A4A"/>
                </a:solidFill>
                <a:latin typeface="Arial"/>
              </a:rPr>
              <a:t>[5] Macenski et al., “The Marathon 2: A Navigation System,” IROS 2020 — docs.nav2.org</a:t>
            </a:r>
          </a:p>
          <a:p>
            <a:pPr>
              <a:spcBef>
                <a:spcPts val="500"/>
              </a:spcBef>
              <a:buNone/>
            </a:pPr>
            <a:r>
              <a:rPr sz="919" b="0" i="0">
                <a:solidFill>
                  <a:srgbClr val="4A4A4A"/>
                </a:solidFill>
                <a:latin typeface="Arial"/>
              </a:rPr>
              <a:t>[6] Macenski et al., “Cost-Aware Kinematically Feasible Planning” (Smac), arXiv:2401.13078, 2024</a:t>
            </a:r>
          </a:p>
          <a:p>
            <a:pPr>
              <a:spcBef>
                <a:spcPts val="500"/>
              </a:spcBef>
              <a:buNone/>
            </a:pPr>
            <a:r>
              <a:rPr sz="919" b="0" i="0">
                <a:solidFill>
                  <a:srgbClr val="4A4A4A"/>
                </a:solidFill>
                <a:latin typeface="Arial"/>
              </a:rPr>
              <a:t>[7] Williams et al., “Information Theoretic MPC” (MPPI), ICRA 2017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215384" y="2926080"/>
            <a:ext cx="37033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100" b="1" i="0">
                <a:solidFill>
                  <a:srgbClr val="1F4E79"/>
                </a:solidFill>
                <a:latin typeface="Arial"/>
              </a:rPr>
              <a:t>Perception &amp; traversability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215384" y="3218688"/>
            <a:ext cx="370332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500"/>
              </a:spcBef>
              <a:buNone/>
            </a:pPr>
            <a:r>
              <a:rPr sz="919" b="0" i="0">
                <a:solidFill>
                  <a:srgbClr val="4A4A4A"/>
                </a:solidFill>
                <a:latin typeface="Arial"/>
              </a:rPr>
              <a:t>[8] Miki et al., “Elevation Mapping using GPU,” IROS 2022 — elevation_mapping_cupy</a:t>
            </a:r>
          </a:p>
          <a:p>
            <a:pPr>
              <a:spcBef>
                <a:spcPts val="500"/>
              </a:spcBef>
              <a:buNone/>
            </a:pPr>
            <a:r>
              <a:rPr sz="919" b="0" i="0">
                <a:solidFill>
                  <a:srgbClr val="4A4A4A"/>
                </a:solidFill>
                <a:latin typeface="Arial"/>
              </a:rPr>
              <a:t>[9] Xie et al., “SegFormer,” NeurIPS 2021</a:t>
            </a:r>
          </a:p>
          <a:p>
            <a:pPr>
              <a:spcBef>
                <a:spcPts val="500"/>
              </a:spcBef>
              <a:buNone/>
            </a:pPr>
            <a:r>
              <a:rPr sz="919" b="0" i="0">
                <a:solidFill>
                  <a:srgbClr val="4A4A4A"/>
                </a:solidFill>
                <a:latin typeface="Arial"/>
              </a:rPr>
              <a:t>[10] Jiang et al., RELLIS-3D, ICRA 2021; Wigness et al., RUGD, IROS 2019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8065008" y="1280160"/>
            <a:ext cx="3694176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100" b="1" i="0">
                <a:solidFill>
                  <a:srgbClr val="1F4E79"/>
                </a:solidFill>
                <a:latin typeface="Arial"/>
              </a:rPr>
              <a:t>Basis for QSLAM innovations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8065008" y="1572768"/>
            <a:ext cx="3694176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500"/>
              </a:spcBef>
              <a:buNone/>
            </a:pPr>
            <a:r>
              <a:rPr sz="919" b="0" i="0">
                <a:solidFill>
                  <a:srgbClr val="4A4A4A"/>
                </a:solidFill>
                <a:latin typeface="Arial"/>
              </a:rPr>
              <a:t>[11] Costante et al., “Perception-aware Path Planning,” arXiv:1605.04151 → localizability layer</a:t>
            </a:r>
          </a:p>
          <a:p>
            <a:pPr>
              <a:spcBef>
                <a:spcPts val="500"/>
              </a:spcBef>
              <a:buNone/>
            </a:pPr>
            <a:r>
              <a:rPr sz="919" b="0" i="0">
                <a:solidFill>
                  <a:srgbClr val="4A4A4A"/>
                </a:solidFill>
                <a:latin typeface="Arial"/>
              </a:rPr>
              <a:t>[12] Shi &amp; Li, “Highly Accurate Vehicle Localization Using Satellite Image,” CVPR 2022 → map anchoring</a:t>
            </a:r>
          </a:p>
          <a:p>
            <a:pPr>
              <a:spcBef>
                <a:spcPts val="500"/>
              </a:spcBef>
              <a:buNone/>
            </a:pPr>
            <a:r>
              <a:rPr sz="919" b="0" i="0">
                <a:solidFill>
                  <a:srgbClr val="4A4A4A"/>
                </a:solidFill>
                <a:latin typeface="Arial"/>
              </a:rPr>
              <a:t>[13] Sarlin et al., “OrienterNet,” CVPR 2023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8065008" y="2980944"/>
            <a:ext cx="3694176" cy="1225296"/>
          </a:xfrm>
          <a:prstGeom prst="roundRect">
            <a:avLst>
              <a:gd name="adj" fmla="val 7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8174736" y="3072384"/>
            <a:ext cx="3474720" cy="10789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buNone/>
            </a:pPr>
            <a:r>
              <a:rPr sz="1100" b="1">
                <a:solidFill>
                  <a:srgbClr val="B5651D"/>
                </a:solidFill>
                <a:latin typeface="Arial"/>
              </a:rPr>
              <a:t>★  </a:t>
            </a:r>
            <a:r>
              <a:rPr sz="1100" b="1">
                <a:solidFill>
                  <a:srgbClr val="1F4E79"/>
                </a:solidFill>
                <a:latin typeface="Arial"/>
              </a:rPr>
              <a:t>Why these three matter</a:t>
            </a:r>
          </a:p>
          <a:p>
            <a:pPr>
              <a:spcBef>
                <a:spcPts val="300"/>
              </a:spcBef>
              <a:buNone/>
            </a:pPr>
            <a:r>
              <a:rPr sz="919" b="0" i="0">
                <a:solidFill>
                  <a:srgbClr val="4A4A4A"/>
                </a:solidFill>
                <a:latin typeface="Arial"/>
              </a:rPr>
              <a:t>They are the published basis for QSLAM's own modules: map anchoring, the localizability layer and the integrity monitor.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65760" y="4956048"/>
            <a:ext cx="3688080" cy="1060704"/>
          </a:xfrm>
          <a:prstGeom prst="roundRect">
            <a:avLst>
              <a:gd name="adj" fmla="val 7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475488" y="5029200"/>
            <a:ext cx="3468624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100" b="1" i="0">
                <a:solidFill>
                  <a:srgbClr val="1F4E79"/>
                </a:solidFill>
                <a:latin typeface="Arial"/>
              </a:rPr>
              <a:t>Reused, proven</a:t>
            </a:r>
          </a:p>
          <a:p>
            <a:pPr>
              <a:spcBef>
                <a:spcPts val="300"/>
              </a:spcBef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cuVSLAM · Nav2 (Smac, MPPI, Collision Monitor) · SegFormer · GPU elevation mapping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4218432" y="4956048"/>
            <a:ext cx="3688080" cy="1060704"/>
          </a:xfrm>
          <a:prstGeom prst="roundRect">
            <a:avLst>
              <a:gd name="adj" fmla="val 7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4328160" y="5029200"/>
            <a:ext cx="3468624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100" b="1" i="0">
                <a:solidFill>
                  <a:srgbClr val="1F4E79"/>
                </a:solidFill>
                <a:latin typeface="Arial"/>
              </a:rPr>
              <a:t>QSLAM contribution</a:t>
            </a:r>
          </a:p>
          <a:p>
            <a:pPr>
              <a:spcBef>
                <a:spcPts val="300"/>
              </a:spcBef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Map-anchored localization · localizability layer · integrity monitor · degraded-mode policy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8071104" y="4956048"/>
            <a:ext cx="3688080" cy="1060704"/>
          </a:xfrm>
          <a:prstGeom prst="roundRect">
            <a:avLst>
              <a:gd name="adj" fmla="val 7000"/>
            </a:avLst>
          </a:prstGeom>
          <a:solidFill>
            <a:srgbClr val="EA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8180832" y="5029200"/>
            <a:ext cx="3468624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100" b="1" i="0">
                <a:solidFill>
                  <a:srgbClr val="1F4E79"/>
                </a:solidFill>
                <a:latin typeface="Arial"/>
              </a:rPr>
              <a:t>Next research step</a:t>
            </a:r>
          </a:p>
          <a:p>
            <a:pPr>
              <a:spcBef>
                <a:spcPts val="300"/>
              </a:spcBef>
              <a:buNone/>
            </a:pPr>
            <a:r>
              <a:rPr sz="950" b="0" i="0">
                <a:solidFill>
                  <a:srgbClr val="4A4A4A"/>
                </a:solidFill>
                <a:latin typeface="Arial"/>
              </a:rPr>
              <a:t>Cross-view matcher fine-tuned on Indian terrain (Bhuvan / Cartosat) · thermal for night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